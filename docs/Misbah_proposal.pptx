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7" r:id="rId10"/>
    <p:sldId id="270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8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8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0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1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6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8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6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0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5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9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1558E-BBC7-419A-965F-F7BAB8A556CE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266ED-9435-4875-AEBA-DAEEAA7E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8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69" y="2960186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00B0F0"/>
                </a:solidFill>
                <a:latin typeface="Trebuchet MS" panose="020B0603020202020204" pitchFamily="34" charset="0"/>
              </a:rPr>
              <a:t>AZKASHINE SOFTWARE &amp; SERVICE PVT.LTD</a:t>
            </a:r>
          </a:p>
          <a:p>
            <a:pPr algn="ctr"/>
            <a:r>
              <a:rPr lang="en-US" sz="4000" dirty="0" smtClean="0">
                <a:solidFill>
                  <a:srgbClr val="00B0F0"/>
                </a:solidFill>
                <a:latin typeface="Trebuchet MS" panose="020B0603020202020204" pitchFamily="34" charset="0"/>
              </a:rPr>
              <a:t>BENGALURU</a:t>
            </a:r>
            <a:endParaRPr lang="en-US" sz="4000" dirty="0">
              <a:solidFill>
                <a:srgbClr val="00B0F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8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667" y="2882751"/>
            <a:ext cx="121919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0" b="1" dirty="0" smtClean="0">
                <a:latin typeface="Trebuchet MS" panose="020B0603020202020204" pitchFamily="34" charset="0"/>
              </a:rPr>
              <a:t>Dynamic </a:t>
            </a:r>
            <a:r>
              <a:rPr lang="en-US" sz="5000" b="1" dirty="0">
                <a:latin typeface="Trebuchet MS" panose="020B0603020202020204" pitchFamily="34" charset="0"/>
              </a:rPr>
              <a:t>Data Intelligence Platform </a:t>
            </a:r>
          </a:p>
        </p:txBody>
      </p:sp>
    </p:spTree>
    <p:extLst>
      <p:ext uri="{BB962C8B-B14F-4D97-AF65-F5344CB8AC3E}">
        <p14:creationId xmlns:p14="http://schemas.microsoft.com/office/powerpoint/2010/main" val="63521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970" y="43320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Executive Summary</a:t>
            </a:r>
            <a:endParaRPr lang="en-US" sz="4000" b="1" dirty="0">
              <a:latin typeface="Trebuchet MS" panose="020B0603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21452" y="1569893"/>
            <a:ext cx="11081857" cy="3858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The Dynamic Data Intelligence Platform</a:t>
            </a: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 is an innovative AI-driven solution that: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Automatically converts raw, unstructured data into domain-specific insights and analytics dashboards.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Uses advanced data-processing frameworks to identify the type of uploaded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Determines the relevant business domain and context automatically.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Instantly generates meaningful visualizations, KPIs, and performance metrics tailored to that domain.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Key Business Impact:</a:t>
            </a:r>
            <a:endParaRPr kumimoji="0" lang="en-US" altLang="en-US" sz="1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anose="020B0603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Addresses the major challenge of interpreting large and unstructured datasets.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Eliminates the dependency on data engineers or analysts for manual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Accelerates the time-to-insight through automation and intelligent data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Empowers business teams to make faster, more informed, and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371804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" y="191301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Project Objectives</a:t>
            </a:r>
            <a:endParaRPr lang="en-US" sz="4000" b="1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3314" y="1997677"/>
            <a:ext cx="10945368" cy="216982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 dirty="0">
                <a:latin typeface="Trebuchet MS" panose="020B0603020202020204" pitchFamily="34" charset="0"/>
              </a:rPr>
              <a:t>The main objectives of the Adaptive Data Intelligence Platform are to: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Automate data understanding</a:t>
            </a:r>
            <a:r>
              <a:rPr lang="en-US" sz="1500" dirty="0">
                <a:latin typeface="Trebuchet MS" panose="020B0603020202020204" pitchFamily="34" charset="0"/>
              </a:rPr>
              <a:t> – Identify the domain or industry context of uploaded CSV files.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Accelerate insights generation</a:t>
            </a:r>
            <a:r>
              <a:rPr lang="en-US" sz="1500" dirty="0">
                <a:latin typeface="Trebuchet MS" panose="020B0603020202020204" pitchFamily="34" charset="0"/>
              </a:rPr>
              <a:t> – Instantly create domain-relevant analytics dashboards and KPIs.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Enable natural language exploration</a:t>
            </a:r>
            <a:r>
              <a:rPr lang="en-US" sz="1500" dirty="0">
                <a:latin typeface="Trebuchet MS" panose="020B0603020202020204" pitchFamily="34" charset="0"/>
              </a:rPr>
              <a:t> – Allow users to ask questions and obtain explanations directly from their data.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Enhance decision accuracy</a:t>
            </a:r>
            <a:r>
              <a:rPr lang="en-US" sz="1500" dirty="0">
                <a:latin typeface="Trebuchet MS" panose="020B0603020202020204" pitchFamily="34" charset="0"/>
              </a:rPr>
              <a:t> – Provide real-time insights customized to the dataset’s business logic.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Reduce manual workload</a:t>
            </a:r>
            <a:r>
              <a:rPr lang="en-US" sz="1500" dirty="0">
                <a:latin typeface="Trebuchet MS" panose="020B0603020202020204" pitchFamily="34" charset="0"/>
              </a:rPr>
              <a:t> – Eliminate repetitive dashboard creation and metric configuration.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3314" y="4942012"/>
            <a:ext cx="10945368" cy="553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500" b="1" dirty="0" smtClean="0">
                <a:latin typeface="Trebuchet MS" panose="020B0603020202020204" pitchFamily="34" charset="0"/>
              </a:rPr>
              <a:t>Next phase</a:t>
            </a:r>
            <a:r>
              <a:rPr lang="en-US" sz="1500" dirty="0" smtClean="0">
                <a:latin typeface="Trebuchet MS" panose="020B0603020202020204" pitchFamily="34" charset="0"/>
              </a:rPr>
              <a:t>: Integrate </a:t>
            </a:r>
            <a:r>
              <a:rPr lang="en-US" sz="1500" b="1" dirty="0">
                <a:latin typeface="Trebuchet MS" panose="020B0603020202020204" pitchFamily="34" charset="0"/>
              </a:rPr>
              <a:t>Agentic AI</a:t>
            </a:r>
            <a:r>
              <a:rPr lang="en-US" sz="1500" dirty="0">
                <a:latin typeface="Trebuchet MS" panose="020B0603020202020204" pitchFamily="34" charset="0"/>
              </a:rPr>
              <a:t> to enable autonomous data analysis and continuous learning, allowing intelligent agents to refine domain detection, insights, and recommendations dynamically.</a:t>
            </a:r>
          </a:p>
        </p:txBody>
      </p:sp>
    </p:spTree>
    <p:extLst>
      <p:ext uri="{BB962C8B-B14F-4D97-AF65-F5344CB8AC3E}">
        <p14:creationId xmlns:p14="http://schemas.microsoft.com/office/powerpoint/2010/main" val="69642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" y="191301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Scope of Work &amp; Key Features</a:t>
            </a:r>
            <a:endParaRPr lang="en-US" sz="4000" b="1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5619" y="1246845"/>
            <a:ext cx="11123802" cy="390106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rebuchet MS" panose="020B0603020202020204" pitchFamily="34" charset="0"/>
              </a:rPr>
              <a:t>The scope of this engagement covers the design, development, deployment, and support of the Adaptive Data Intelligence Platform. Key features include</a:t>
            </a:r>
            <a:r>
              <a:rPr lang="en-US" sz="1500" dirty="0" smtClean="0">
                <a:latin typeface="Trebuchet MS" panose="020B0603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sz="15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Smart Data Upload:</a:t>
            </a:r>
            <a:r>
              <a:rPr lang="en-US" sz="1500" dirty="0">
                <a:latin typeface="Trebuchet MS" panose="020B0603020202020204" pitchFamily="34" charset="0"/>
              </a:rPr>
              <a:t> Accepts CSV datasets of varying formats.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Automatic Domain Detection:</a:t>
            </a:r>
            <a:r>
              <a:rPr lang="en-US" sz="1500" dirty="0">
                <a:latin typeface="Trebuchet MS" panose="020B0603020202020204" pitchFamily="34" charset="0"/>
              </a:rPr>
              <a:t> Recognizes data context (e.g., retail, healthcare, finance) using pattern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Adaptive Dashboards:</a:t>
            </a:r>
            <a:r>
              <a:rPr lang="en-US" sz="1500" dirty="0">
                <a:latin typeface="Trebuchet MS" panose="020B0603020202020204" pitchFamily="34" charset="0"/>
              </a:rPr>
              <a:t> Generates visualizations and KPIs aligned with the identified domain.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AI-Powered Chat Interface:</a:t>
            </a:r>
            <a:r>
              <a:rPr lang="en-US" sz="1500" dirty="0">
                <a:latin typeface="Trebuchet MS" panose="020B0603020202020204" pitchFamily="34" charset="0"/>
              </a:rPr>
              <a:t> Users can explore insights through natural language queries.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Dynamic Metrics:</a:t>
            </a:r>
            <a:r>
              <a:rPr lang="en-US" sz="1500" dirty="0">
                <a:latin typeface="Trebuchet MS" panose="020B0603020202020204" pitchFamily="34" charset="0"/>
              </a:rPr>
              <a:t> Real-time generation of relevant statistics using AI models.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Responsive Web Interface:</a:t>
            </a:r>
            <a:r>
              <a:rPr lang="en-US" sz="1500" dirty="0">
                <a:latin typeface="Trebuchet MS" panose="020B0603020202020204" pitchFamily="34" charset="0"/>
              </a:rPr>
              <a:t> Built with React + Tailwind for flexibility and accessibility.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Seamless API Communication:</a:t>
            </a:r>
            <a:r>
              <a:rPr lang="en-US" sz="1500" dirty="0">
                <a:latin typeface="Trebuchet MS" panose="020B0603020202020204" pitchFamily="34" charset="0"/>
              </a:rPr>
              <a:t> Backend powered by FastAPI for high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Context-Aware LLM Integration:</a:t>
            </a:r>
            <a:r>
              <a:rPr lang="en-US" sz="1500" dirty="0">
                <a:latin typeface="Trebuchet MS" panose="020B0603020202020204" pitchFamily="34" charset="0"/>
              </a:rPr>
              <a:t> Uses Groq API with LangChain for intelligent interpretation and domain-specific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13" y="5494757"/>
            <a:ext cx="11096107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500" b="1" dirty="0" smtClean="0">
                <a:latin typeface="Trebuchet MS" panose="020B0603020202020204" pitchFamily="34" charset="0"/>
              </a:rPr>
              <a:t>Next phase</a:t>
            </a:r>
            <a:r>
              <a:rPr lang="en-US" sz="1500" dirty="0" smtClean="0">
                <a:latin typeface="Trebuchet MS" panose="020B0603020202020204" pitchFamily="34" charset="0"/>
              </a:rPr>
              <a:t>: </a:t>
            </a:r>
            <a:r>
              <a:rPr lang="en-US" sz="1600" dirty="0">
                <a:latin typeface="Trebuchet MS" panose="020B0603020202020204" pitchFamily="34" charset="0"/>
              </a:rPr>
              <a:t>In upcoming phases, the platform will </a:t>
            </a:r>
            <a:r>
              <a:rPr lang="en-US" sz="1600" b="1" dirty="0">
                <a:latin typeface="Trebuchet MS" panose="020B0603020202020204" pitchFamily="34" charset="0"/>
              </a:rPr>
              <a:t>extend beyond CSV uploads</a:t>
            </a:r>
            <a:r>
              <a:rPr lang="en-US" sz="1600" dirty="0">
                <a:latin typeface="Trebuchet MS" panose="020B0603020202020204" pitchFamily="34" charset="0"/>
              </a:rPr>
              <a:t> to support </a:t>
            </a:r>
            <a:r>
              <a:rPr lang="en-US" sz="1600" b="1" dirty="0">
                <a:latin typeface="Trebuchet MS" panose="020B0603020202020204" pitchFamily="34" charset="0"/>
              </a:rPr>
              <a:t>direct database integrations</a:t>
            </a:r>
            <a:r>
              <a:rPr lang="en-US" sz="1600" dirty="0">
                <a:latin typeface="Trebuchet MS" panose="020B0603020202020204" pitchFamily="34" charset="0"/>
              </a:rPr>
              <a:t>—enabling seamless connectivity with enterprise data sources for real-time analytics and automated insight generation.</a:t>
            </a:r>
            <a:endParaRPr lang="en-US" sz="1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21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" y="191301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Solution </a:t>
            </a:r>
            <a:r>
              <a:rPr lang="en-US" sz="4000" dirty="0" smtClean="0">
                <a:latin typeface="Trebuchet MS" panose="020B0603020202020204" pitchFamily="34" charset="0"/>
              </a:rPr>
              <a:t>Overview</a:t>
            </a:r>
            <a:endParaRPr lang="en-US" sz="4000" b="1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3949" y="888028"/>
            <a:ext cx="7659148" cy="563231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rebuchet MS" panose="020B0603020202020204" pitchFamily="34" charset="0"/>
              </a:rPr>
              <a:t>The solution follows a modular, service-oriented architecture that ensures scalability, security, and maintainability.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Architecture Layers:</a:t>
            </a:r>
            <a:endParaRPr lang="en-US" sz="15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Presentation Layer (Frontend – React + Vite)</a:t>
            </a:r>
            <a:endParaRPr lang="en-US" sz="1500" dirty="0">
              <a:latin typeface="Trebuchet MS" panose="020B0603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Provides interactive dashboards and a chat interface.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Uses Redux Toolkit for state management and Recharts for data visualization.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Application Layer (Backend – FastAPI)</a:t>
            </a:r>
            <a:endParaRPr lang="en-US" sz="1500" dirty="0">
              <a:latin typeface="Trebuchet MS" panose="020B0603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Manages API requests for file uploads, domain analysis, and insight generation.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Handles preprocessing, transformation, and storage of processed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Intelligence Layer (LangChain + Groq LLM)</a:t>
            </a:r>
            <a:endParaRPr lang="en-US" sz="1500" dirty="0">
              <a:latin typeface="Trebuchet MS" panose="020B0603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Interprets datasets to derive meaningful patterns and insights.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Powers natural-language understanding and domain-adaptive responses.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b="1" dirty="0">
                <a:latin typeface="Trebuchet MS" panose="020B0603020202020204" pitchFamily="34" charset="0"/>
              </a:rPr>
              <a:t>Data Layer</a:t>
            </a:r>
            <a:endParaRPr lang="en-US" sz="1500" dirty="0">
              <a:latin typeface="Trebuchet MS" panose="020B0603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Temporary and structured storage for processed datasets and metrics.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Supports background preprocessing for optimized performance.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249" y="899187"/>
            <a:ext cx="3806597" cy="542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6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0546" y="448371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Implementation Timeline &amp; Milestones </a:t>
            </a:r>
            <a:endParaRPr lang="en-US" sz="4000" b="1" dirty="0">
              <a:latin typeface="Trebuchet MS" panose="020B0603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542937"/>
              </p:ext>
            </p:extLst>
          </p:nvPr>
        </p:nvGraphicFramePr>
        <p:xfrm>
          <a:off x="359967" y="1738123"/>
          <a:ext cx="11450972" cy="4351338"/>
        </p:xfrm>
        <a:graphic>
          <a:graphicData uri="http://schemas.openxmlformats.org/drawingml/2006/table">
            <a:tbl>
              <a:tblPr/>
              <a:tblGrid>
                <a:gridCol w="4124346">
                  <a:extLst>
                    <a:ext uri="{9D8B030D-6E8A-4147-A177-3AD203B41FA5}">
                      <a16:colId xmlns:a16="http://schemas.microsoft.com/office/drawing/2014/main" val="1014201657"/>
                    </a:ext>
                  </a:extLst>
                </a:gridCol>
                <a:gridCol w="5350770">
                  <a:extLst>
                    <a:ext uri="{9D8B030D-6E8A-4147-A177-3AD203B41FA5}">
                      <a16:colId xmlns:a16="http://schemas.microsoft.com/office/drawing/2014/main" val="2010123021"/>
                    </a:ext>
                  </a:extLst>
                </a:gridCol>
                <a:gridCol w="1975856">
                  <a:extLst>
                    <a:ext uri="{9D8B030D-6E8A-4147-A177-3AD203B41FA5}">
                      <a16:colId xmlns:a16="http://schemas.microsoft.com/office/drawing/2014/main" val="278364922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 algn="just"/>
                      <a:r>
                        <a:rPr lang="en-US" sz="1500" b="1" dirty="0">
                          <a:latin typeface="Trebuchet MS" panose="020B0603020202020204" pitchFamily="34" charset="0"/>
                        </a:rPr>
                        <a:t>Phase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1" dirty="0">
                          <a:latin typeface="Trebuchet MS" panose="020B0603020202020204" pitchFamily="34" charset="0"/>
                        </a:rPr>
                        <a:t>Deliverables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b="1" dirty="0" smtClean="0">
                          <a:latin typeface="Trebuchet MS" panose="020B0603020202020204" pitchFamily="34" charset="0"/>
                        </a:rPr>
                        <a:t>Duration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968094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latin typeface="Trebuchet MS" panose="020B0603020202020204" pitchFamily="34" charset="0"/>
                        </a:rPr>
                        <a:t>Discovery &amp; Requirements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Requirement analysis, domain mapping, architecture finalization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2 Week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226763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latin typeface="Trebuchet MS" panose="020B0603020202020204" pitchFamily="34" charset="0"/>
                        </a:rPr>
                        <a:t>Design &amp; Prototype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UI/UX wireframes, data flow diagrams, API contracts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2 Weeks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240849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latin typeface="Trebuchet MS" panose="020B0603020202020204" pitchFamily="34" charset="0"/>
                        </a:rPr>
                        <a:t>Backend &amp; Frontend Development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API endpoints, dashboard modules, data processors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6 Weeks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550282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AI Integration &amp; Testing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latin typeface="Trebuchet MS" panose="020B0603020202020204" pitchFamily="34" charset="0"/>
                        </a:rPr>
                        <a:t>Domain detection, Groq API integration, QA testing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4 Weeks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897322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User Acceptance Testing (UAT)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Final testing and feedback incorporation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4 Weeks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419039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Deployment &amp; Documentation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rebuchet MS" panose="020B0603020202020204" pitchFamily="34" charset="0"/>
                        </a:rPr>
                        <a:t>Production deployment, technical &amp; user manuals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2 Week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3180708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latin typeface="Trebuchet MS" panose="020B0603020202020204" pitchFamily="34" charset="0"/>
                        </a:rPr>
                        <a:t>Maintenance &amp; Support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latin typeface="Trebuchet MS" panose="020B0603020202020204" pitchFamily="34" charset="0"/>
                        </a:rPr>
                        <a:t>Patches, performance monitoring, LLM updates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 smtClean="0">
                          <a:latin typeface="Trebuchet MS" panose="020B0603020202020204" pitchFamily="34" charset="0"/>
                        </a:rPr>
                        <a:t>Ongoing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442258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7224" y="1271449"/>
            <a:ext cx="11711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Summary:</a:t>
            </a:r>
            <a:r>
              <a:rPr lang="en-US" dirty="0"/>
              <a:t> The full implementation spans </a:t>
            </a:r>
            <a:r>
              <a:rPr lang="en-US" b="1" dirty="0"/>
              <a:t>20 </a:t>
            </a:r>
            <a:r>
              <a:rPr lang="en-US" b="1" dirty="0" smtClean="0"/>
              <a:t>weeks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9967" y="6176174"/>
            <a:ext cx="1145097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Trebuchet MS" panose="020B0603020202020204" pitchFamily="34" charset="0"/>
              </a:rPr>
              <a:t>Note:</a:t>
            </a:r>
            <a:r>
              <a:rPr lang="en-US" sz="1500" dirty="0">
                <a:latin typeface="Trebuchet MS" panose="020B0603020202020204" pitchFamily="34" charset="0"/>
              </a:rPr>
              <a:t> Additional </a:t>
            </a:r>
            <a:r>
              <a:rPr lang="en-US" sz="1500" b="1" dirty="0">
                <a:latin typeface="Trebuchet MS" panose="020B0603020202020204" pitchFamily="34" charset="0"/>
              </a:rPr>
              <a:t>industry-specific customization and configuration will require approximately 8 more </a:t>
            </a:r>
            <a:r>
              <a:rPr lang="en-US" sz="1500" b="1" dirty="0" smtClean="0">
                <a:latin typeface="Trebuchet MS" panose="020B0603020202020204" pitchFamily="34" charset="0"/>
              </a:rPr>
              <a:t>weeks</a:t>
            </a:r>
            <a:endParaRPr lang="en-US" sz="1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5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5472" y="880537"/>
            <a:ext cx="51442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rebuchet MS" panose="020B0603020202020204" pitchFamily="34" charset="0"/>
              </a:rPr>
              <a:t>Assumptions</a:t>
            </a:r>
            <a:endParaRPr lang="en-US" sz="2000" b="1" dirty="0">
              <a:latin typeface="Trebuchet MS" panose="020B0603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5472" y="1387574"/>
            <a:ext cx="5144291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Client will provide access to sample datasets for testing.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Required API credentials (Groq API, LangChain) will be available during integration.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Hosting and deployment will be carried out on a client-approved environment (e.g., GCP, AWS).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Data privacy and compliance will align with client’s internal governance policies.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782" y="4984288"/>
            <a:ext cx="11509695" cy="113107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Technical Dependencies:</a:t>
            </a:r>
            <a:r>
              <a:rPr lang="en-US" sz="1500" dirty="0">
                <a:latin typeface="Trebuchet MS" panose="020B0603020202020204" pitchFamily="34" charset="0"/>
              </a:rPr>
              <a:t> Groq API, LangChain libraries, Python 3.10+, Node.js 18+, FastAPI, React, and Tailwind CSS.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External Integrations:</a:t>
            </a:r>
            <a:r>
              <a:rPr lang="en-US" sz="1500" dirty="0">
                <a:latin typeface="Trebuchet MS" panose="020B0603020202020204" pitchFamily="34" charset="0"/>
              </a:rPr>
              <a:t> Internet connectivity for LLM APIs, access to CSV sample datasets.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Infrastructure Requirements:</a:t>
            </a:r>
            <a:r>
              <a:rPr lang="en-US" sz="1500" dirty="0">
                <a:latin typeface="Trebuchet MS" panose="020B0603020202020204" pitchFamily="34" charset="0"/>
              </a:rPr>
              <a:t> Cloud hosting with secure </a:t>
            </a:r>
            <a:r>
              <a:rPr lang="en-US" sz="1500" dirty="0" smtClean="0">
                <a:latin typeface="Trebuchet MS" panose="020B0603020202020204" pitchFamily="34" charset="0"/>
              </a:rPr>
              <a:t>storage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01473" y="1387574"/>
            <a:ext cx="6618914" cy="286232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rebuchet MS" panose="020B0603020202020204" pitchFamily="34" charset="0"/>
              </a:rPr>
              <a:t>The </a:t>
            </a:r>
            <a:r>
              <a:rPr lang="en-US" sz="1500" dirty="0" smtClean="0">
                <a:latin typeface="Trebuchet MS" panose="020B0603020202020204" pitchFamily="34" charset="0"/>
              </a:rPr>
              <a:t>Dynamic </a:t>
            </a:r>
            <a:r>
              <a:rPr lang="en-US" sz="1500" dirty="0">
                <a:latin typeface="Trebuchet MS" panose="020B0603020202020204" pitchFamily="34" charset="0"/>
              </a:rPr>
              <a:t>Data Intelligence Platform delivers measurable value by: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Reducing manual reporting and dashboard creation time by up to </a:t>
            </a:r>
            <a:r>
              <a:rPr lang="en-US" sz="1500" b="1" dirty="0">
                <a:latin typeface="Trebuchet MS" panose="020B0603020202020204" pitchFamily="34" charset="0"/>
              </a:rPr>
              <a:t>80%</a:t>
            </a:r>
            <a:r>
              <a:rPr lang="en-US" sz="1500" dirty="0">
                <a:latin typeface="Trebuchet MS" panose="020B0603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Providing </a:t>
            </a:r>
            <a:r>
              <a:rPr lang="en-US" sz="1500" b="1" dirty="0">
                <a:latin typeface="Trebuchet MS" panose="020B0603020202020204" pitchFamily="34" charset="0"/>
              </a:rPr>
              <a:t>real-time, domain-specific insights</a:t>
            </a:r>
            <a:r>
              <a:rPr lang="en-US" sz="1500" dirty="0">
                <a:latin typeface="Trebuchet MS" panose="020B0603020202020204" pitchFamily="34" charset="0"/>
              </a:rPr>
              <a:t> for faster strategic decisions.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Offering a </a:t>
            </a:r>
            <a:r>
              <a:rPr lang="en-US" sz="1500" b="1" dirty="0">
                <a:latin typeface="Trebuchet MS" panose="020B0603020202020204" pitchFamily="34" charset="0"/>
              </a:rPr>
              <a:t>scalable and future-ready architecture</a:t>
            </a:r>
            <a:r>
              <a:rPr lang="en-US" sz="1500" dirty="0">
                <a:latin typeface="Trebuchet MS" panose="020B0603020202020204" pitchFamily="34" charset="0"/>
              </a:rPr>
              <a:t> that can evolve with additional AI capabilities.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500" dirty="0">
                <a:latin typeface="Trebuchet MS" panose="020B0603020202020204" pitchFamily="34" charset="0"/>
              </a:rPr>
              <a:t>Empowering business teams to explore data through simple, conversational interfaces.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0" y="4518202"/>
            <a:ext cx="121919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rebuchet MS" panose="020B0603020202020204" pitchFamily="34" charset="0"/>
              </a:rPr>
              <a:t>Dependencies &amp; Prerequisites</a:t>
            </a:r>
            <a:endParaRPr lang="en-US" sz="2000" b="1" dirty="0">
              <a:latin typeface="Trebuchet MS" panose="020B0603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01473" y="888607"/>
            <a:ext cx="66189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rebuchet MS" panose="020B0603020202020204" pitchFamily="34" charset="0"/>
              </a:rPr>
              <a:t>Value Proposition</a:t>
            </a:r>
            <a:endParaRPr lang="en-US" sz="20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64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" y="191301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Trebuchet MS" panose="020B0603020202020204" pitchFamily="34" charset="0"/>
              </a:rPr>
              <a:t>Risk &amp; </a:t>
            </a:r>
            <a:r>
              <a:rPr lang="en-US" sz="4000" b="1" dirty="0">
                <a:latin typeface="Trebuchet MS" panose="020B0603020202020204" pitchFamily="34" charset="0"/>
              </a:rPr>
              <a:t>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113072"/>
              </p:ext>
            </p:extLst>
          </p:nvPr>
        </p:nvGraphicFramePr>
        <p:xfrm>
          <a:off x="1023456" y="1895911"/>
          <a:ext cx="9991288" cy="4064695"/>
        </p:xfrm>
        <a:graphic>
          <a:graphicData uri="http://schemas.openxmlformats.org/drawingml/2006/table">
            <a:tbl>
              <a:tblPr/>
              <a:tblGrid>
                <a:gridCol w="4995644">
                  <a:extLst>
                    <a:ext uri="{9D8B030D-6E8A-4147-A177-3AD203B41FA5}">
                      <a16:colId xmlns:a16="http://schemas.microsoft.com/office/drawing/2014/main" val="1693934803"/>
                    </a:ext>
                  </a:extLst>
                </a:gridCol>
                <a:gridCol w="4995644">
                  <a:extLst>
                    <a:ext uri="{9D8B030D-6E8A-4147-A177-3AD203B41FA5}">
                      <a16:colId xmlns:a16="http://schemas.microsoft.com/office/drawing/2014/main" val="1922633879"/>
                    </a:ext>
                  </a:extLst>
                </a:gridCol>
              </a:tblGrid>
              <a:tr h="424670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rebuchet MS" panose="020B0603020202020204" pitchFamily="34" charset="0"/>
                        </a:rPr>
                        <a:t>Risk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rebuchet MS" panose="020B0603020202020204" pitchFamily="34" charset="0"/>
                        </a:rPr>
                        <a:t>Mitigation Strategy</a:t>
                      </a:r>
                      <a:endParaRPr lang="en-US" sz="1500" dirty="0"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731945"/>
                  </a:ext>
                </a:extLst>
              </a:tr>
              <a:tr h="728005"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Data quality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Validate and cleanse uploaded data during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2036"/>
                  </a:ext>
                </a:extLst>
              </a:tr>
              <a:tr h="72800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rebuchet MS" panose="020B0603020202020204" pitchFamily="34" charset="0"/>
                        </a:rPr>
                        <a:t>Model accuracy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Continuous retraining with updated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621322"/>
                  </a:ext>
                </a:extLst>
              </a:tr>
              <a:tr h="728005"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API latency or unavailability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Implement caching and fallback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679517"/>
                  </a:ext>
                </a:extLst>
              </a:tr>
              <a:tr h="728005"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Integration 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Trebuchet MS" panose="020B0603020202020204" pitchFamily="34" charset="0"/>
                        </a:rPr>
                        <a:t>Use modular, decoupled service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206105"/>
                  </a:ext>
                </a:extLst>
              </a:tr>
              <a:tr h="72800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rebuchet MS" panose="020B0603020202020204" pitchFamily="34" charset="0"/>
                        </a:rPr>
                        <a:t>User adoption challenges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rebuchet MS" panose="020B0603020202020204" pitchFamily="34" charset="0"/>
                        </a:rPr>
                        <a:t>Provide user training and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66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45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71612" y="3177637"/>
            <a:ext cx="121919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000" b="1" dirty="0" smtClean="0">
                <a:latin typeface="Trebuchet MS" panose="020B0603020202020204" pitchFamily="34" charset="0"/>
              </a:rPr>
              <a:t>THANK YOU</a:t>
            </a:r>
            <a:endParaRPr lang="en-US" sz="50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91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281" y="5960606"/>
            <a:ext cx="2572688" cy="900000"/>
          </a:xfrm>
          <a:prstGeom prst="rect">
            <a:avLst/>
          </a:prstGeom>
        </p:spPr>
      </p:pic>
      <p:sp>
        <p:nvSpPr>
          <p:cNvPr id="5" name="Freeform 4" descr="AzkaShine log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51011" y="85265"/>
            <a:ext cx="2269376" cy="581405"/>
          </a:xfrm>
          <a:custGeom>
            <a:avLst/>
            <a:gdLst/>
            <a:ahLst/>
            <a:cxnLst/>
            <a:rect l="l" t="t" r="r" b="b"/>
            <a:pathLst>
              <a:path w="4018302" h="1111620">
                <a:moveTo>
                  <a:pt x="0" y="0"/>
                </a:moveTo>
                <a:lnTo>
                  <a:pt x="4018302" y="0"/>
                </a:lnTo>
                <a:lnTo>
                  <a:pt x="4018302" y="1111620"/>
                </a:lnTo>
                <a:lnTo>
                  <a:pt x="0" y="111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4" b="-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40960" y="6520339"/>
            <a:ext cx="1706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rgbClr val="00B0F0"/>
                </a:solidFill>
                <a:latin typeface="Trebuchet MS" panose="020B0603020202020204" pitchFamily="34" charset="0"/>
              </a:rPr>
              <a:t>www.azkashine.com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CA4E8-33F1-4435-6746-7B6898922C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2572688" cy="9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" y="149356"/>
            <a:ext cx="121919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Technical Approach &amp; Methodology</a:t>
            </a:r>
            <a:endParaRPr lang="en-US" sz="4000" b="1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0117" y="1381497"/>
            <a:ext cx="11199303" cy="455118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Trebuchet MS" panose="020B0603020202020204" pitchFamily="34" charset="0"/>
              </a:rPr>
              <a:t>The project will follow a structured implementation methodology with emphasis on agility and quality assurance.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Step 1: Data Ingestion &amp; Validation</a:t>
            </a:r>
            <a:r>
              <a:rPr lang="en-US" sz="1500" dirty="0">
                <a:latin typeface="Trebuchet MS" panose="020B0603020202020204" pitchFamily="34" charset="0"/>
              </a:rPr>
              <a:t/>
            </a:r>
            <a:br>
              <a:rPr lang="en-US" sz="1500" dirty="0">
                <a:latin typeface="Trebuchet MS" panose="020B0603020202020204" pitchFamily="34" charset="0"/>
              </a:rPr>
            </a:br>
            <a:r>
              <a:rPr lang="en-US" sz="1500" dirty="0">
                <a:latin typeface="Trebuchet MS" panose="020B0603020202020204" pitchFamily="34" charset="0"/>
              </a:rPr>
              <a:t>Uploaded CSV files are analyzed for structure, data types, and consistency. Invalid entries are flagged automatically.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Step 2: Domain Recognition</a:t>
            </a:r>
            <a:r>
              <a:rPr lang="en-US" sz="1500" dirty="0">
                <a:latin typeface="Trebuchet MS" panose="020B0603020202020204" pitchFamily="34" charset="0"/>
              </a:rPr>
              <a:t/>
            </a:r>
            <a:br>
              <a:rPr lang="en-US" sz="1500" dirty="0">
                <a:latin typeface="Trebuchet MS" panose="020B0603020202020204" pitchFamily="34" charset="0"/>
              </a:rPr>
            </a:br>
            <a:r>
              <a:rPr lang="en-US" sz="1500" dirty="0">
                <a:latin typeface="Trebuchet MS" panose="020B0603020202020204" pitchFamily="34" charset="0"/>
              </a:rPr>
              <a:t>Algorithms analyze headers, values, and statistical patterns to infer the domain (e.g., sales, healthcare, logistics).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Step 3: Data Processing &amp; Metric Generation</a:t>
            </a:r>
            <a:r>
              <a:rPr lang="en-US" sz="1500" dirty="0">
                <a:latin typeface="Trebuchet MS" panose="020B0603020202020204" pitchFamily="34" charset="0"/>
              </a:rPr>
              <a:t/>
            </a:r>
            <a:br>
              <a:rPr lang="en-US" sz="1500" dirty="0">
                <a:latin typeface="Trebuchet MS" panose="020B0603020202020204" pitchFamily="34" charset="0"/>
              </a:rPr>
            </a:br>
            <a:r>
              <a:rPr lang="en-US" sz="1500" dirty="0">
                <a:latin typeface="Trebuchet MS" panose="020B0603020202020204" pitchFamily="34" charset="0"/>
              </a:rPr>
              <a:t>System computes key metrics (sales trends, inventory turnover, patient ratios, etc.) based on detected domain.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Step 4: Visualization &amp; Dashboard Creation</a:t>
            </a:r>
            <a:r>
              <a:rPr lang="en-US" sz="1500" dirty="0">
                <a:latin typeface="Trebuchet MS" panose="020B0603020202020204" pitchFamily="34" charset="0"/>
              </a:rPr>
              <a:t/>
            </a:r>
            <a:br>
              <a:rPr lang="en-US" sz="1500" dirty="0">
                <a:latin typeface="Trebuchet MS" panose="020B0603020202020204" pitchFamily="34" charset="0"/>
              </a:rPr>
            </a:br>
            <a:r>
              <a:rPr lang="en-US" sz="1500" dirty="0">
                <a:latin typeface="Trebuchet MS" panose="020B0603020202020204" pitchFamily="34" charset="0"/>
              </a:rPr>
              <a:t>React-based dashboard displays metrics with context-adaptive layouts and charts.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Step 5: Conversational Insight Generation</a:t>
            </a:r>
            <a:r>
              <a:rPr lang="en-US" sz="1500" dirty="0">
                <a:latin typeface="Trebuchet MS" panose="020B0603020202020204" pitchFamily="34" charset="0"/>
              </a:rPr>
              <a:t/>
            </a:r>
            <a:br>
              <a:rPr lang="en-US" sz="1500" dirty="0">
                <a:latin typeface="Trebuchet MS" panose="020B0603020202020204" pitchFamily="34" charset="0"/>
              </a:rPr>
            </a:br>
            <a:r>
              <a:rPr lang="en-US" sz="1500" dirty="0">
                <a:latin typeface="Trebuchet MS" panose="020B0603020202020204" pitchFamily="34" charset="0"/>
              </a:rPr>
              <a:t>LangChain + Groq integration enables users to query data in natural language and receive instant, context-aware responses.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rebuchet MS" panose="020B0603020202020204" pitchFamily="34" charset="0"/>
              </a:rPr>
              <a:t>Step 6: Continuous Optimization</a:t>
            </a:r>
            <a:r>
              <a:rPr lang="en-US" sz="1500" dirty="0">
                <a:latin typeface="Trebuchet MS" panose="020B0603020202020204" pitchFamily="34" charset="0"/>
              </a:rPr>
              <a:t/>
            </a:r>
            <a:br>
              <a:rPr lang="en-US" sz="1500" dirty="0">
                <a:latin typeface="Trebuchet MS" panose="020B0603020202020204" pitchFamily="34" charset="0"/>
              </a:rPr>
            </a:br>
            <a:r>
              <a:rPr lang="en-US" sz="1500" dirty="0">
                <a:latin typeface="Trebuchet MS" panose="020B0603020202020204" pitchFamily="34" charset="0"/>
              </a:rPr>
              <a:t>Feedback loops improve model accuracy and performance over time.</a:t>
            </a:r>
          </a:p>
        </p:txBody>
      </p:sp>
    </p:spTree>
    <p:extLst>
      <p:ext uri="{BB962C8B-B14F-4D97-AF65-F5344CB8AC3E}">
        <p14:creationId xmlns:p14="http://schemas.microsoft.com/office/powerpoint/2010/main" val="87922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914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23</cp:revision>
  <dcterms:created xsi:type="dcterms:W3CDTF">2025-05-29T09:25:34Z</dcterms:created>
  <dcterms:modified xsi:type="dcterms:W3CDTF">2025-10-23T10:24:00Z</dcterms:modified>
</cp:coreProperties>
</file>